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57" r:id="rId4"/>
    <p:sldId id="267" r:id="rId5"/>
    <p:sldId id="266" r:id="rId6"/>
    <p:sldId id="272" r:id="rId7"/>
    <p:sldId id="273" r:id="rId8"/>
    <p:sldId id="274" r:id="rId9"/>
    <p:sldId id="258" r:id="rId10"/>
    <p:sldId id="259" r:id="rId11"/>
    <p:sldId id="270" r:id="rId12"/>
    <p:sldId id="261" r:id="rId13"/>
    <p:sldId id="264" r:id="rId14"/>
  </p:sldIdLst>
  <p:sldSz cx="9753600" cy="7315200"/>
  <p:notesSz cx="9753600" cy="7315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gTxnPD+aw2LrBypMl/CD7XQzvf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788" y="9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25925" y="548625"/>
            <a:ext cx="6502725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70B33C29-0B92-68A6-6D75-C930EFDF4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CA3E4E75-490A-4049-66DC-C70E1BA74A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CB3CD57F-0D25-7773-FB54-E5A8DC7A13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7905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480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1480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9ac01966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9ac019662_0_13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3000" cy="3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ubTitle" idx="1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/>
          <p:nvPr/>
        </p:nvSpPr>
        <p:spPr>
          <a:xfrm>
            <a:off x="0" y="0"/>
            <a:ext cx="9752965" cy="894080"/>
          </a:xfrm>
          <a:custGeom>
            <a:avLst/>
            <a:gdLst/>
            <a:ahLst/>
            <a:cxnLst/>
            <a:rect l="l" t="t" r="r" b="b"/>
            <a:pathLst>
              <a:path w="9752965" h="894080" extrusionOk="0">
                <a:moveTo>
                  <a:pt x="9752456" y="893567"/>
                </a:moveTo>
                <a:lnTo>
                  <a:pt x="0" y="893567"/>
                </a:lnTo>
                <a:lnTo>
                  <a:pt x="0" y="0"/>
                </a:lnTo>
                <a:lnTo>
                  <a:pt x="9752456" y="0"/>
                </a:lnTo>
                <a:lnTo>
                  <a:pt x="9752456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0" y="7151615"/>
            <a:ext cx="9753600" cy="163830"/>
          </a:xfrm>
          <a:custGeom>
            <a:avLst/>
            <a:gdLst/>
            <a:ahLst/>
            <a:cxnLst/>
            <a:rect l="l" t="t" r="r" b="b"/>
            <a:pathLst>
              <a:path w="9753600" h="163829" extrusionOk="0">
                <a:moveTo>
                  <a:pt x="9753218" y="163584"/>
                </a:moveTo>
                <a:lnTo>
                  <a:pt x="0" y="163584"/>
                </a:lnTo>
                <a:lnTo>
                  <a:pt x="0" y="0"/>
                </a:lnTo>
                <a:lnTo>
                  <a:pt x="9753218" y="0"/>
                </a:lnTo>
                <a:lnTo>
                  <a:pt x="9753218" y="16358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Google Shape;8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8"/>
          <p:cNvSpPr/>
          <p:nvPr/>
        </p:nvSpPr>
        <p:spPr>
          <a:xfrm>
            <a:off x="6556416" y="0"/>
            <a:ext cx="3197860" cy="894080"/>
          </a:xfrm>
          <a:custGeom>
            <a:avLst/>
            <a:gdLst/>
            <a:ahLst/>
            <a:cxnLst/>
            <a:rect l="l" t="t" r="r" b="b"/>
            <a:pathLst>
              <a:path w="3197859" h="894080" extrusionOk="0">
                <a:moveTo>
                  <a:pt x="3197297" y="893567"/>
                </a:moveTo>
                <a:lnTo>
                  <a:pt x="0" y="893567"/>
                </a:lnTo>
                <a:lnTo>
                  <a:pt x="0" y="0"/>
                </a:lnTo>
                <a:lnTo>
                  <a:pt x="3197297" y="0"/>
                </a:lnTo>
                <a:lnTo>
                  <a:pt x="3197297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8"/>
          <p:cNvSpPr/>
          <p:nvPr/>
        </p:nvSpPr>
        <p:spPr>
          <a:xfrm>
            <a:off x="6963071" y="203136"/>
            <a:ext cx="2213610" cy="731520"/>
          </a:xfrm>
          <a:custGeom>
            <a:avLst/>
            <a:gdLst/>
            <a:ahLst/>
            <a:cxnLst/>
            <a:rect l="l" t="t" r="r" b="b"/>
            <a:pathLst>
              <a:path w="2213609" h="731519" extrusionOk="0">
                <a:moveTo>
                  <a:pt x="2213399" y="731135"/>
                </a:moveTo>
                <a:lnTo>
                  <a:pt x="0" y="731135"/>
                </a:lnTo>
                <a:lnTo>
                  <a:pt x="0" y="0"/>
                </a:lnTo>
                <a:lnTo>
                  <a:pt x="2213399" y="0"/>
                </a:lnTo>
                <a:lnTo>
                  <a:pt x="2213399" y="7311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14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144684" y="1201860"/>
            <a:ext cx="9464232" cy="4889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lvl="0" algn="ctr">
              <a:lnSpc>
                <a:spcPct val="119736"/>
              </a:lnSpc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</a:p>
          <a:p>
            <a:pPr lvl="0" algn="ctr">
              <a:lnSpc>
                <a:spcPct val="119736"/>
              </a:lnSpc>
            </a:pPr>
            <a:r>
              <a:rPr lang="en-US" sz="2100" dirty="0"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lang="en-IN"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154305" lvl="0" algn="ctr">
              <a:lnSpc>
                <a:spcPct val="114411"/>
              </a:lnSpc>
            </a:pPr>
            <a:r>
              <a:rPr lang="en-IN" sz="3600" dirty="0" err="1"/>
              <a:t>IntraManage</a:t>
            </a:r>
            <a:r>
              <a:rPr lang="en-IN" sz="3600" dirty="0"/>
              <a:t>-Next-Gen Industry Project Platform </a:t>
            </a:r>
          </a:p>
          <a:p>
            <a:pPr marR="154305" lvl="0" algn="ctr">
              <a:lnSpc>
                <a:spcPct val="114411"/>
              </a:lnSpc>
            </a:pPr>
            <a:endParaRPr lang="en-US" sz="3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54305" lvl="0" indent="0" algn="ctr" rtl="0">
              <a:lnSpc>
                <a:spcPct val="11441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5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021839" marR="2014854" lvl="0" indent="-635" algn="ctr" rtl="0">
              <a:lnSpc>
                <a:spcPct val="101200"/>
              </a:lnSpc>
              <a:spcBef>
                <a:spcPts val="3075"/>
              </a:spcBef>
              <a:spcAft>
                <a:spcPts val="0"/>
              </a:spcAft>
              <a:buNone/>
            </a:pP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4945" marR="2727325" lvl="0" indent="0" algn="ctr" rtl="0">
              <a:lnSpc>
                <a:spcPct val="1012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Supervised By </a:t>
            </a:r>
          </a:p>
          <a:p>
            <a:pPr marL="2734945" marR="2727325" lvl="0" indent="0" algn="ctr" rtl="0">
              <a:lnSpc>
                <a:spcPct val="1012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Dr. Gifty Gupta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284545" y="6091004"/>
            <a:ext cx="7103745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1631950" marR="5080" lvl="0" indent="-1619885" algn="l" rtl="0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dirty="0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Chitkara University, Punjab</a:t>
            </a:r>
            <a:endParaRPr sz="25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96B728-85DF-67ED-FC57-3331BFC67805}"/>
              </a:ext>
            </a:extLst>
          </p:cNvPr>
          <p:cNvSpPr txBox="1"/>
          <p:nvPr/>
        </p:nvSpPr>
        <p:spPr>
          <a:xfrm>
            <a:off x="3032567" y="3186233"/>
            <a:ext cx="544268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Adarsh Kumar Pathak (2210991178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Aditi (2210991180)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Aargya Sharma (2210991116)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Kapil (2210991744)</a:t>
            </a:r>
          </a:p>
          <a:p>
            <a:endParaRPr lang="en-US"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3CAD20CB-B4A8-73B4-68B6-689254348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>
            <a:extLst>
              <a:ext uri="{FF2B5EF4-FFF2-40B4-BE49-F238E27FC236}">
                <a16:creationId xmlns:a16="http://schemas.microsoft.com/office/drawing/2014/main" id="{E722174E-7E2C-87EA-BDF0-F7F459BDD5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55180" y="167250"/>
            <a:ext cx="3221620" cy="53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/>
            <a:r>
              <a:rPr lang="en-IN" b="1" dirty="0"/>
              <a:t>Introduction</a:t>
            </a:r>
            <a:endParaRPr b="1" dirty="0"/>
          </a:p>
        </p:txBody>
      </p:sp>
      <p:sp>
        <p:nvSpPr>
          <p:cNvPr id="60" name="Google Shape;60;p2">
            <a:extLst>
              <a:ext uri="{FF2B5EF4-FFF2-40B4-BE49-F238E27FC236}">
                <a16:creationId xmlns:a16="http://schemas.microsoft.com/office/drawing/2014/main" id="{A22ED288-53F8-B5E6-BF83-9FD5CA6D96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7158" y="1578713"/>
            <a:ext cx="8226645" cy="444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28600" indent="0" algn="just">
              <a:lnSpc>
                <a:spcPct val="150000"/>
              </a:lnSpc>
            </a:pPr>
            <a:r>
              <a:rPr lang="en-US" sz="2400" dirty="0"/>
              <a:t>I</a:t>
            </a:r>
            <a:r>
              <a:rPr lang="en-IN" sz="2400" dirty="0" err="1"/>
              <a:t>ntraManage</a:t>
            </a:r>
            <a:r>
              <a:rPr lang="en-IN" sz="2400" dirty="0"/>
              <a:t> is an industry project management platform designed to improve coordination and efficiency in academic and industry-based environments. Traditional project handling relies on informal communication and disconnected tools, leading to poor collaboration, difficulty in tracking progress, and reduced accountability. This system provides a centralized and structured solution to manage roles, monitor project stages, and ensure secure collaboration among all stakeholders.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749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>
            <a:spLocks noGrp="1"/>
          </p:cNvSpPr>
          <p:nvPr>
            <p:ph type="title"/>
          </p:nvPr>
        </p:nvSpPr>
        <p:spPr>
          <a:xfrm>
            <a:off x="1990845" y="109377"/>
            <a:ext cx="4357703" cy="53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/>
            <a:r>
              <a:rPr lang="en-IN" dirty="0"/>
              <a:t> </a:t>
            </a:r>
            <a:r>
              <a:rPr lang="en-IN" b="1" dirty="0"/>
              <a:t>Problem</a:t>
            </a:r>
            <a:endParaRPr b="1" dirty="0"/>
          </a:p>
        </p:txBody>
      </p:sp>
      <p:sp>
        <p:nvSpPr>
          <p:cNvPr id="60" name="Google Shape;60;p2"/>
          <p:cNvSpPr txBox="1">
            <a:spLocks noGrp="1"/>
          </p:cNvSpPr>
          <p:nvPr>
            <p:ph type="body" idx="1"/>
          </p:nvPr>
        </p:nvSpPr>
        <p:spPr>
          <a:xfrm>
            <a:off x="199696" y="1537285"/>
            <a:ext cx="8877180" cy="444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The Problem:</a:t>
            </a:r>
            <a:r>
              <a:rPr lang="en-US" sz="2400" dirty="0"/>
              <a:t> Project management in academic and industry environments is often handled using informal tools like spreadsheets and scattered communication channels, leading to inefficiency.</a:t>
            </a:r>
          </a:p>
          <a:p>
            <a:pPr marL="228600" indent="0" algn="just"/>
            <a:endParaRPr lang="en-US" sz="2400" dirty="0"/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The Impact:</a:t>
            </a:r>
            <a:r>
              <a:rPr lang="en-US" sz="2400" dirty="0"/>
              <a:t> This results in poor coordination, lack of transparency, difficulty in tracking progress, and reduced accountability among administrators, managers, and interns.</a:t>
            </a:r>
          </a:p>
          <a:p>
            <a:pPr marL="228600" indent="0" algn="just"/>
            <a:endParaRPr lang="en-US" sz="2400" dirty="0"/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The Challenge:</a:t>
            </a:r>
            <a:r>
              <a:rPr lang="en-US" sz="2400" dirty="0"/>
              <a:t> Without a centralized system and real-time visibility, managing tasks, monitoring performance, and ensuring structured collaboration becomes complex and time-consuming.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D9B-48AD-9F2C-7C07-701ECA60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268" y="236698"/>
            <a:ext cx="5072853" cy="523220"/>
          </a:xfrm>
        </p:spPr>
        <p:txBody>
          <a:bodyPr/>
          <a:lstStyle/>
          <a:p>
            <a:r>
              <a:rPr lang="en-IN" b="1" dirty="0"/>
              <a:t>Abstract &amp; Objective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4C6A-020E-F11F-EDE8-57B0CE5FA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340" y="1594112"/>
            <a:ext cx="8952230" cy="4431983"/>
          </a:xfrm>
        </p:spPr>
        <p:txBody>
          <a:bodyPr/>
          <a:lstStyle/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Abstract:</a:t>
            </a:r>
            <a:r>
              <a:rPr lang="en-US" sz="2400" dirty="0"/>
              <a:t> A role-based Industry Project Management System designed to enable secure collaboration, efficient task management, and real-time progress tracking using a centralized platform.</a:t>
            </a:r>
            <a:br>
              <a:rPr lang="en-US" sz="2400" dirty="0"/>
            </a:br>
            <a:r>
              <a:rPr lang="en-US" sz="2400" dirty="0"/>
              <a:t>It integrates project monitoring, role-based access, and performance tracking to ensure a structured and organized workflow.</a:t>
            </a:r>
          </a:p>
          <a:p>
            <a:pPr marL="228600" indent="0" algn="just"/>
            <a:endParaRPr lang="en-US" sz="2400" dirty="0"/>
          </a:p>
          <a:p>
            <a:pPr marL="228600" indent="0" algn="just"/>
            <a:endParaRPr lang="en-US" sz="2400" b="1" dirty="0"/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Objective:</a:t>
            </a:r>
            <a:r>
              <a:rPr lang="en-US" sz="2400" dirty="0"/>
              <a:t> To develop a structured and scalable system that improves coordination, transparency, and workflow management among Admin, Manager, and Intern users.</a:t>
            </a:r>
            <a:br>
              <a:rPr lang="en-US" sz="2400" dirty="0"/>
            </a:br>
            <a:r>
              <a:rPr lang="en-US" sz="2400" dirty="0"/>
              <a:t>To simplify project handling by providing real-time updates, secure access control, and efficient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323496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A7DF-8896-9A72-F43E-78BE30A25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8864" y="116727"/>
            <a:ext cx="2663607" cy="600903"/>
          </a:xfrm>
        </p:spPr>
        <p:txBody>
          <a:bodyPr/>
          <a:lstStyle/>
          <a:p>
            <a:r>
              <a:rPr lang="en-IN" b="1" dirty="0"/>
              <a:t>Methodology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7C3DB-7E5B-157B-6928-EF57E5004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6009" y="1319514"/>
            <a:ext cx="8617784" cy="6052003"/>
          </a:xfrm>
        </p:spPr>
        <p:txBody>
          <a:bodyPr/>
          <a:lstStyle/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System Design:</a:t>
            </a:r>
            <a:r>
              <a:rPr lang="en-US" sz="2400" dirty="0"/>
              <a:t> Designed a role-based architecture with three user levels — Admin, Manager, and Intern — ensuring secure and structured access control.</a:t>
            </a:r>
          </a:p>
          <a:p>
            <a:pPr marL="228600" indent="0" algn="just"/>
            <a:endParaRPr lang="en-US" sz="2400" dirty="0"/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Development Approach:</a:t>
            </a:r>
            <a:r>
              <a:rPr lang="en-US" sz="2400" dirty="0"/>
              <a:t> Built a full-stack web application using the MERN stack, integrating frontend, backend, and database for seamless functionality.</a:t>
            </a:r>
          </a:p>
          <a:p>
            <a:pPr marL="228600" indent="0" algn="just"/>
            <a:endParaRPr lang="en-US" sz="2400" dirty="0"/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Core Functionalities Implementation</a:t>
            </a:r>
            <a:r>
              <a:rPr lang="en-US" sz="2400" b="1" dirty="0"/>
              <a:t>:</a:t>
            </a:r>
            <a:r>
              <a:rPr lang="en-US" sz="2400" dirty="0"/>
              <a:t> Developed modules for authentication, project management, task assignment, progress tracking, and file handling.</a:t>
            </a:r>
          </a:p>
          <a:p>
            <a:pPr marL="5715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Monitoring &amp; Tracking: </a:t>
            </a:r>
            <a:r>
              <a:rPr lang="en-US" sz="2400" dirty="0"/>
              <a:t>Implemented real-time activity tracking and performance monitoring to ensure transparency and accountability across all users.</a:t>
            </a:r>
          </a:p>
          <a:p>
            <a:pPr marL="571500" indent="-342900" algn="just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97129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2B2035-47B4-7AF3-C2FF-ECBF62992B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8" t="6397" r="5405"/>
          <a:stretch>
            <a:fillRect/>
          </a:stretch>
        </p:blipFill>
        <p:spPr>
          <a:xfrm>
            <a:off x="418289" y="1040860"/>
            <a:ext cx="8772592" cy="59017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381246-FA49-64D7-BC60-9F7FEC0D1760}"/>
              </a:ext>
            </a:extLst>
          </p:cNvPr>
          <p:cNvSpPr txBox="1"/>
          <p:nvPr/>
        </p:nvSpPr>
        <p:spPr>
          <a:xfrm>
            <a:off x="1894463" y="118486"/>
            <a:ext cx="48784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</a:t>
            </a:r>
          </a:p>
        </p:txBody>
      </p:sp>
    </p:spTree>
    <p:extLst>
      <p:ext uri="{BB962C8B-B14F-4D97-AF65-F5344CB8AC3E}">
        <p14:creationId xmlns:p14="http://schemas.microsoft.com/office/powerpoint/2010/main" val="41052754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BBD82A-C182-9203-2DEA-B422B5CD2624}"/>
              </a:ext>
            </a:extLst>
          </p:cNvPr>
          <p:cNvSpPr txBox="1"/>
          <p:nvPr/>
        </p:nvSpPr>
        <p:spPr>
          <a:xfrm>
            <a:off x="1894463" y="118486"/>
            <a:ext cx="48784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30D12F-8E51-149C-B509-06FD4FE3B9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15" t="5064" r="2956" b="8137"/>
          <a:stretch>
            <a:fillRect/>
          </a:stretch>
        </p:blipFill>
        <p:spPr>
          <a:xfrm>
            <a:off x="6303523" y="1373656"/>
            <a:ext cx="2759787" cy="50925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37D554-4DAD-33F2-24F4-81203511AF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7" t="7236" r="6202" b="7050"/>
          <a:stretch>
            <a:fillRect/>
          </a:stretch>
        </p:blipFill>
        <p:spPr>
          <a:xfrm>
            <a:off x="317772" y="1373656"/>
            <a:ext cx="2746441" cy="50925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6CFC0D-5CB1-9DFC-55F1-66363DB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14" t="1835" r="5908" b="10281"/>
          <a:stretch>
            <a:fillRect/>
          </a:stretch>
        </p:blipFill>
        <p:spPr>
          <a:xfrm>
            <a:off x="3352802" y="1373656"/>
            <a:ext cx="2508896" cy="509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778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B56F07-9D7F-49FA-D55A-EBA27D69A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6726"/>
            <a:ext cx="4947196" cy="27508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712711-AF53-493D-D1A4-4D3DBB716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7197" y="906726"/>
            <a:ext cx="4806404" cy="27508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807FA8-FBA8-FDED-7BE6-0BB9CF9301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17437"/>
          <a:stretch>
            <a:fillRect/>
          </a:stretch>
        </p:blipFill>
        <p:spPr>
          <a:xfrm>
            <a:off x="11428" y="3657599"/>
            <a:ext cx="4935770" cy="34922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EBF96F-F7CA-5AAC-134B-4E65785F09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713" t="11037" r="3374" b="5984"/>
          <a:stretch>
            <a:fillRect/>
          </a:stretch>
        </p:blipFill>
        <p:spPr>
          <a:xfrm>
            <a:off x="4950381" y="3657598"/>
            <a:ext cx="4803219" cy="348251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DFD826-519B-089A-F6A1-7A3422BF2665}"/>
              </a:ext>
            </a:extLst>
          </p:cNvPr>
          <p:cNvCxnSpPr>
            <a:cxnSpLocks/>
          </p:cNvCxnSpPr>
          <p:nvPr/>
        </p:nvCxnSpPr>
        <p:spPr>
          <a:xfrm>
            <a:off x="0" y="3657598"/>
            <a:ext cx="97536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4549AC-023C-7003-32E4-6D61EE1DE2AA}"/>
              </a:ext>
            </a:extLst>
          </p:cNvPr>
          <p:cNvCxnSpPr/>
          <p:nvPr/>
        </p:nvCxnSpPr>
        <p:spPr>
          <a:xfrm>
            <a:off x="4947196" y="906726"/>
            <a:ext cx="0" cy="62333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2668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1460395" y="0"/>
            <a:ext cx="4292223" cy="68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12700" lvl="0"/>
            <a:r>
              <a:rPr lang="en-IN" b="1" dirty="0"/>
              <a:t>Why MERN Stack?</a:t>
            </a:r>
            <a:endParaRPr b="1" dirty="0"/>
          </a:p>
        </p:txBody>
      </p:sp>
      <p:sp>
        <p:nvSpPr>
          <p:cNvPr id="67" name="Google Shape;67;p3"/>
          <p:cNvSpPr txBox="1"/>
          <p:nvPr/>
        </p:nvSpPr>
        <p:spPr>
          <a:xfrm>
            <a:off x="400685" y="1391638"/>
            <a:ext cx="8952230" cy="44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JavaScript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 single language (JavaScript) across frontend and backend, making development faster and more consistent.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Flexibility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Easily handles growing data and users, making it suitable for real-world project management systems.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Development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enables reusable components, while Node.js and Express provide fast and lightweight backend services.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Integration: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integrates smoothly with the application, allowing efficient storage and retrieval of project data.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1" y="109377"/>
            <a:ext cx="5501848" cy="120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/>
            <a:r>
              <a:rPr lang="en-IN" b="1" dirty="0"/>
              <a:t>Advantages &amp; Results</a:t>
            </a:r>
            <a:br>
              <a:rPr lang="en-IN" dirty="0"/>
            </a:br>
            <a:endParaRPr dirty="0"/>
          </a:p>
        </p:txBody>
      </p:sp>
      <p:sp>
        <p:nvSpPr>
          <p:cNvPr id="73" name="Google Shape;73;p4"/>
          <p:cNvSpPr txBox="1"/>
          <p:nvPr/>
        </p:nvSpPr>
        <p:spPr>
          <a:xfrm>
            <a:off x="276058" y="1119712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457200" marR="8890" lvl="0" indent="-36195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4042C-70E0-0843-5F98-BCC86D2AC9B8}"/>
              </a:ext>
            </a:extLst>
          </p:cNvPr>
          <p:cNvSpPr txBox="1"/>
          <p:nvPr/>
        </p:nvSpPr>
        <p:spPr>
          <a:xfrm>
            <a:off x="276058" y="1482579"/>
            <a:ext cx="93480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Coordination: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smooth collaboration between Admin, Manager, and Interns through a centralized platform.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Transparency &amp; Accountability: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activity tracking and role-based access ensure clear visibility of tasks and responsibilities.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Performance Monitoring: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Managers can easily track progress, evaluate performance, and identify delays in project execution.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&amp; Resource Efficiency: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task management, reduces manual effort, and speeds up overall project workflow.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C2DAC-5865-09BF-DF51-D8A1090FF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949" y="201974"/>
            <a:ext cx="2720510" cy="523220"/>
          </a:xfrm>
        </p:spPr>
        <p:txBody>
          <a:bodyPr/>
          <a:lstStyle/>
          <a:p>
            <a:r>
              <a:rPr lang="en-IN" b="1" dirty="0"/>
              <a:t>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B82142-CED3-C04C-49F1-6B3AB099F1D7}"/>
              </a:ext>
            </a:extLst>
          </p:cNvPr>
          <p:cNvSpPr txBox="1"/>
          <p:nvPr/>
        </p:nvSpPr>
        <p:spPr>
          <a:xfrm>
            <a:off x="451943" y="1387367"/>
            <a:ext cx="87235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Collaboration: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enable instant updates and seamless real-time communication between users.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Analytics: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AI for performance evaluation, project delay prediction, and intelligent insights.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Integration: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Migrating file storage to cloud platforms like AWS S3 or Firebase for better scalability and security.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Communication: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email and push notification systems for timely updates and alerts.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mobile app version for better accessibility and on-the-go project management.</a:t>
            </a:r>
          </a:p>
        </p:txBody>
      </p:sp>
    </p:spTree>
    <p:extLst>
      <p:ext uri="{BB962C8B-B14F-4D97-AF65-F5344CB8AC3E}">
        <p14:creationId xmlns:p14="http://schemas.microsoft.com/office/powerpoint/2010/main" val="1980260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9ac019662_0_13"/>
          <p:cNvSpPr txBox="1">
            <a:spLocks noGrp="1"/>
          </p:cNvSpPr>
          <p:nvPr>
            <p:ph type="title"/>
          </p:nvPr>
        </p:nvSpPr>
        <p:spPr>
          <a:xfrm>
            <a:off x="2839370" y="141825"/>
            <a:ext cx="2090400" cy="5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b="1" dirty="0"/>
              <a:t>Conclusion</a:t>
            </a:r>
            <a:endParaRPr b="1" dirty="0"/>
          </a:p>
        </p:txBody>
      </p:sp>
      <p:sp>
        <p:nvSpPr>
          <p:cNvPr id="86" name="Google Shape;86;g319ac019662_0_13"/>
          <p:cNvSpPr txBox="1">
            <a:spLocks noGrp="1"/>
          </p:cNvSpPr>
          <p:nvPr>
            <p:ph type="body" idx="1"/>
          </p:nvPr>
        </p:nvSpPr>
        <p:spPr>
          <a:xfrm>
            <a:off x="400650" y="1485330"/>
            <a:ext cx="8952300" cy="332398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685800" indent="-457200" algn="just">
              <a:buFont typeface="Arial" panose="020B0604020202020204" pitchFamily="34" charset="0"/>
              <a:buChar char="•"/>
            </a:pPr>
            <a:r>
              <a:rPr lang="en-US" sz="2400" b="1" dirty="0"/>
              <a:t>Summary:</a:t>
            </a:r>
            <a:r>
              <a:rPr lang="en-US" sz="2400" dirty="0"/>
              <a:t> The proposed Industry Project Management System provides a structured, role-based platform that integrates project management, task tracking, and real-time monitoring within a single application.</a:t>
            </a:r>
          </a:p>
          <a:p>
            <a:pPr marL="228600" indent="0" algn="just"/>
            <a:endParaRPr lang="en-US" sz="2400" dirty="0"/>
          </a:p>
          <a:p>
            <a:pPr marL="685800" indent="-457200" algn="just">
              <a:buFont typeface="Arial" panose="020B0604020202020204" pitchFamily="34" charset="0"/>
              <a:buChar char="•"/>
            </a:pPr>
            <a:r>
              <a:rPr lang="en-US" sz="2400" b="1" dirty="0"/>
              <a:t>Final Impact:</a:t>
            </a:r>
            <a:r>
              <a:rPr lang="en-US" sz="2400" dirty="0"/>
              <a:t> It enhances coordination, transparency, and accountability among users while simplifying workflow management and improving overall productivity in academic and industry-based projects.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>
            <a:spLocks noGrp="1"/>
          </p:cNvSpPr>
          <p:nvPr>
            <p:ph type="title"/>
          </p:nvPr>
        </p:nvSpPr>
        <p:spPr>
          <a:xfrm>
            <a:off x="3137882" y="2901732"/>
            <a:ext cx="3644900" cy="903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50"/>
              <a:t>Thank You</a:t>
            </a:r>
            <a:endParaRPr sz="575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146</TotalTime>
  <Words>716</Words>
  <Application>Microsoft Office PowerPoint</Application>
  <PresentationFormat>Custom</PresentationFormat>
  <Paragraphs>67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Times New Roman</vt:lpstr>
      <vt:lpstr>Trebuchet MS</vt:lpstr>
      <vt:lpstr>Office Theme</vt:lpstr>
      <vt:lpstr>PowerPoint Presentation</vt:lpstr>
      <vt:lpstr>Introduction</vt:lpstr>
      <vt:lpstr> Problem</vt:lpstr>
      <vt:lpstr>Abstract &amp; Objective</vt:lpstr>
      <vt:lpstr>Methodology </vt:lpstr>
      <vt:lpstr>PowerPoint Presentation</vt:lpstr>
      <vt:lpstr>PowerPoint Presentation</vt:lpstr>
      <vt:lpstr>PowerPoint Presentation</vt:lpstr>
      <vt:lpstr>Why MERN Stack?</vt:lpstr>
      <vt:lpstr>Advantages &amp; Results </vt:lpstr>
      <vt:lpstr>Future Scope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Kalash Amrendra</dc:creator>
  <cp:lastModifiedBy>Adarsh Kumar</cp:lastModifiedBy>
  <cp:revision>9</cp:revision>
  <dcterms:created xsi:type="dcterms:W3CDTF">2024-10-02T17:36:18Z</dcterms:created>
  <dcterms:modified xsi:type="dcterms:W3CDTF">2026-05-05T05:26:42Z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2024-08-03T00:00:00Z</vt:filetime>
  </property>
  <property fmtid="{D5CDD505-2E9C-101B-9397-08002B2CF9AE}" pid="3" name="Creator">
    <vt:lpwstr>Canva</vt:lpwstr>
  </property>
  <property fmtid="{D5CDD505-2E9C-101B-9397-08002B2CF9AE}" pid="4" name="LastSaved">
    <vt:filetime>2024-10-02T00:00:00Z</vt:filetime>
  </property>
  <property fmtid="{D5CDD505-2E9C-101B-9397-08002B2CF9AE}" pid="5" name="Producer">
    <vt:lpwstr>Canva</vt:lpwstr>
  </property>
</Properties>
</file>